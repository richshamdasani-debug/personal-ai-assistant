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7315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PERSONAL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D4FF"/>
                </a:solidFill>
              </a:rPr>
              <a:t>"Your AI employee. Always on. 60-second setup."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356616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749039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The managed personal AI agent platform for non-technical consumers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Powered by OpenClaw + Anthropic Claude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4937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Richard Shamdasani  |  Founder &amp; CEO  |  Singapore  |  March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0E57A"/>
                </a:solidFill>
              </a:rPr>
              <a:t>Seeking: $500K Pre-Seed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Everyone Wants a Personal AI. Almost Nobody Has One.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4592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828800"/>
            <a:ext cx="3474720" cy="3474720"/>
          </a:xfrm>
          <a:prstGeom prst="rect">
            <a:avLst/>
          </a:prstGeom>
          <a:solidFill>
            <a:srgbClr val="1A2A3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⚡ Setup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73% of non-technical users never
successfully set up an AI agent.
Average setup time: 4–6 hours.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828800"/>
            <a:ext cx="3474720" cy="3474720"/>
          </a:xfrm>
          <a:prstGeom prst="rect">
            <a:avLst/>
          </a:prstGeom>
          <a:solidFill>
            <a:srgbClr val="1A2A3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🧠 No Memory or Proactivity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5146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ChatGPT forgets everything.
Users re-explain context every time.
AI only responds — never acts.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828800"/>
            <a:ext cx="3474720" cy="3474720"/>
          </a:xfrm>
          <a:prstGeom prst="rect">
            <a:avLst/>
          </a:prstGeom>
          <a:solidFill>
            <a:srgbClr val="1A2A3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📱 Wrong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5146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2B WhatsApp users. 800M Telegram.
AI assistants require new apps.
Low adoption, lower retention.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700"/>
                </a:solidFill>
              </a:rPr>
              <a:t>Knowledge workers who'd benefit: 900M+   •   Successfully using an agent: &lt;2%   •   The gap is $162B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Your AI Employee — Always On, Zero Setup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5448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645920" y="1828800"/>
            <a:ext cx="1097280" cy="1097280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874519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Sign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Visit personal-ai.com
Enter your email
Choose a plan
&lt; 30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5394959" y="1828800"/>
            <a:ext cx="1097280" cy="1097280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1874519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3611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Link Telegram
or WhatsApp
Click START
&lt; 30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0" y="1828800"/>
            <a:ext cx="1097280" cy="1097280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874519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Done!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3611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Agent is live
Morning briefing
arrives at 7am
Instant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What Your Agent Does: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🌅 Daily briefings  •  📧 Email summaries  •  💬 24/7 assistant  •  📅 Calendar management  •  ✍️ Writing help  •  🔍 Deep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 Massive, Underserved Market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5448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828800"/>
            <a:ext cx="3383280" cy="3200400"/>
          </a:xfrm>
          <a:prstGeom prst="rect">
            <a:avLst/>
          </a:prstGeom>
          <a:solidFill>
            <a:srgbClr val="1A3A5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$162B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1.25B knowledge workers
globally × $15/mo avg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828800"/>
            <a:ext cx="3383280" cy="3200400"/>
          </a:xfrm>
          <a:prstGeom prst="rect">
            <a:avLst/>
          </a:prstGeom>
          <a:solidFill>
            <a:srgbClr val="1A4A3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$64.8B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3291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180M English-speaking,
mobile-first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828800"/>
            <a:ext cx="3383280" cy="3200400"/>
          </a:xfrm>
          <a:prstGeom prst="rect">
            <a:avLst/>
          </a:prstGeom>
          <a:solidFill>
            <a:srgbClr val="3A2A1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</a:rP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$1M Y1
$25M Y3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3291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2,200 users in Year 1
45,000 users in Year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700"/>
                </a:solidFill>
              </a:rPr>
              <a:t>Why Now: Tech ready ✓  |  Distribution ready (WhatsApp API open) ✓  |  Consumer demand proven ✓  |  No clear leader yet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BUSINESS MODEL &amp;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Simple Subscription + Bait &amp; Hook Growth Engine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5448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828800"/>
            <a:ext cx="3474720" cy="3840480"/>
          </a:xfrm>
          <a:prstGeom prst="rect">
            <a:avLst/>
          </a:prstGeom>
          <a:solidFill>
            <a:srgbClr val="1A2A3A"/>
          </a:solidFill>
          <a:ln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D7F32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$15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 3 agents
✓  Telegram only
✓  30-day memory
✓  100 tasks/mo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828800"/>
            <a:ext cx="3474720" cy="3840480"/>
          </a:xfrm>
          <a:prstGeom prst="rect">
            <a:avLst/>
          </a:prstGeom>
          <a:solidFill>
            <a:srgbClr val="1A2A3A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C0C0"/>
                </a:solidFill>
              </a:rPr>
              <a:t>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$30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/month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5661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 10 agents
✓  + WhatsApp
✓  6-month memory
✓  500 tasks/mo
✓  + Web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828800"/>
            <a:ext cx="3474720" cy="3840480"/>
          </a:xfrm>
          <a:prstGeom prst="rect">
            <a:avLst/>
          </a:prstGeom>
          <a:solidFill>
            <a:srgbClr val="1A2A3A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</a:rPr>
              <a:t>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2743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$60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3246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/month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35661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 Unlimited agents
✓  + API access
✓  Unlimited memory
✓  Unlimited tasks
✓  Custom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57A"/>
                </a:solidFill>
              </a:rPr>
              <a:t>Bait &amp; Hook: Free 7-day trial → Starter → Pro → Power  |  Memory moat = low churn  |  Annual plans: 20% 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Math That Makes This Business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5448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Per-User Economics (Blended)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Revenue per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286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$38/month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00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Claude API (~200 calls)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700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8080"/>
                </a:solidFill>
              </a:rPr>
              <a:t>- $3.00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540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Railway/Docker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540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8080"/>
                </a:solidFill>
              </a:rPr>
              <a:t>- $2.50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381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Supabase + Stripe fees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381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8080"/>
                </a:solidFill>
              </a:rPr>
              <a:t>- $2.20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2219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Gross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2219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E57A"/>
                </a:solidFill>
              </a:rPr>
              <a:t>$30.30/month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Gross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206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E57A"/>
                </a:solidFill>
              </a:rPr>
              <a:t>79.7%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Key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Blended ARPU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286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$38/month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700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Monthly Churn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70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540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Avg. Lifetime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0540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25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381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LTV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4381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$950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2219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8221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$40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06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LTV:CAC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206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E57A"/>
                </a:solidFill>
              </a:rPr>
              <a:t>23.75x 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90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Payback Period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E57A"/>
                </a:solidFill>
              </a:rPr>
              <a:t>1.05 months 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700"/>
                </a:solidFill>
              </a:rPr>
              <a:t>Industry benchmark: LTV:CAC &gt; 3x = good. Ours = 23.75x. Payback in 1 month vs industry avg 12 months.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 Own the Uncontested Position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5448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828800"/>
            <a:ext cx="2240280" cy="320040"/>
          </a:xfrm>
          <a:prstGeom prst="rect">
            <a:avLst/>
          </a:prstGeom>
          <a:solidFill>
            <a:srgbClr val="008ACC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28800"/>
            <a:ext cx="1600200" cy="320040"/>
          </a:xfrm>
          <a:prstGeom prst="rect">
            <a:avLst/>
          </a:prstGeom>
          <a:solidFill>
            <a:srgbClr val="008ACC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ChatGPT+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1600200" cy="320040"/>
          </a:xfrm>
          <a:prstGeom prst="rect">
            <a:avLst/>
          </a:prstGeom>
          <a:solidFill>
            <a:srgbClr val="008ACC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Lindy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28800"/>
            <a:ext cx="1691639" cy="320040"/>
          </a:xfrm>
          <a:prstGeom prst="rect">
            <a:avLst/>
          </a:prstGeom>
          <a:solidFill>
            <a:srgbClr val="008ACC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Personal.ai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1783080" cy="320040"/>
          </a:xfrm>
          <a:prstGeom prst="rect">
            <a:avLst/>
          </a:prstGeom>
          <a:solidFill>
            <a:srgbClr val="008ACC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Character.ai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828800"/>
            <a:ext cx="1600200" cy="320040"/>
          </a:xfrm>
          <a:prstGeom prst="rect">
            <a:avLst/>
          </a:prstGeom>
          <a:solidFill>
            <a:srgbClr val="008ACC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US (We)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40280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$20/mo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40280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$50/mo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40280"/>
            <a:ext cx="1691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$40/mo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40280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$10/mo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40280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E57A"/>
                </a:solidFill>
              </a:rPr>
              <a:t>$15-60/mo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24328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Always-on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624328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24328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624328"/>
            <a:ext cx="1691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624328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624328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E57A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08376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Persistent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008376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008376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008376"/>
            <a:ext cx="1691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008376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008376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E57A"/>
                </a:solidFill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92424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Telegram/WhatsApp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392424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392424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392424"/>
            <a:ext cx="1691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392424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392424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E57A"/>
                </a:solidFill>
              </a:rP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776472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Proactive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776472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776472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⚠️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3776472"/>
            <a:ext cx="1691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776472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776472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E57A"/>
                </a:solidFill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160520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60-sec setup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4160520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160520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160520"/>
            <a:ext cx="1691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160520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160520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E57A"/>
                </a:solidFill>
              </a:rP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544568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Consumer-friendly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4544568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4544568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4544568"/>
            <a:ext cx="1691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⚠️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544568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</a:rPr>
              <a:t>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544568"/>
            <a:ext cx="1600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E57A"/>
                </a:solidFill>
              </a:rPr>
              <a:t>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E57A"/>
                </a:solidFill>
              </a:rPr>
              <a:t>✅ We are the ONLY platform combining: Simple setup + Always-on + Messaging-native + Persistent memory + Proactive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TRACTION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Built, Tested, Ready to Launch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5448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Current Traction (Pre-Launch)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7A"/>
                </a:solidFill>
              </a:rPr>
              <a:t>MVP Built &amp; Deployed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7A"/>
                </a:solidFill>
              </a:rPr>
              <a:t>47 Active Beta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7A"/>
                </a:solidFill>
              </a:rPr>
              <a:t>NPS Score: 72 (Exceptional)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7A"/>
                </a:solidFill>
              </a:rPr>
              <a:t>Railway Infrastructure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7A"/>
                </a:solidFill>
              </a:rPr>
              <a:t>Stripe Billing Integrated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7A"/>
                </a:solidFill>
              </a:rPr>
              <a:t>Telegram Delivery 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</a:rPr>
              <a:t>Public Launch: April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12-Month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286000"/>
            <a:ext cx="5303520" cy="548640"/>
          </a:xfrm>
          <a:prstGeom prst="rect">
            <a:avLst/>
          </a:prstGeom>
          <a:solidFill>
            <a:srgbClr val="1A2A3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317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Q1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331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MVP Launch, 100 users, $3K MRR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944368"/>
            <a:ext cx="5303520" cy="548640"/>
          </a:xfrm>
          <a:prstGeom prst="rect">
            <a:avLst/>
          </a:prstGeom>
          <a:solidFill>
            <a:srgbClr val="1A2A3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990087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Q2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99008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WhatsApp live, Dashboard, $30K MRR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602736"/>
            <a:ext cx="5303520" cy="548640"/>
          </a:xfrm>
          <a:prstGeom prst="rect">
            <a:avLst/>
          </a:prstGeom>
          <a:solidFill>
            <a:srgbClr val="1A2A3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4845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Q3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64845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Enterprise tier, API, $50K MRR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61104"/>
            <a:ext cx="5303520" cy="548640"/>
          </a:xfrm>
          <a:prstGeom prst="rect">
            <a:avLst/>
          </a:prstGeom>
          <a:solidFill>
            <a:srgbClr val="1A2A3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30682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Q4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3068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Agent marketplace, $85K MRR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919472"/>
            <a:ext cx="5303520" cy="548640"/>
          </a:xfrm>
          <a:prstGeom prst="rect">
            <a:avLst/>
          </a:prstGeom>
          <a:solidFill>
            <a:srgbClr val="1A2A3A"/>
          </a:solidFill>
          <a:ln>
            <a:solidFill>
              <a:srgbClr val="00E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9651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7A"/>
                </a:solidFill>
              </a:rPr>
              <a:t>Q1 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9651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🎯 $1M ARR — Series A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Path to $1M ARR in 13 Months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5448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3-Year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154680" cy="320040"/>
          </a:xfrm>
          <a:prstGeom prst="rect">
            <a:avLst/>
          </a:prstGeom>
          <a:solidFill>
            <a:srgbClr val="008ACC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2514600" cy="320040"/>
          </a:xfrm>
          <a:prstGeom prst="rect">
            <a:avLst/>
          </a:prstGeom>
          <a:solidFill>
            <a:srgbClr val="008ACC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2514600" cy="320040"/>
          </a:xfrm>
          <a:prstGeom prst="rect">
            <a:avLst/>
          </a:prstGeom>
          <a:solidFill>
            <a:srgbClr val="008ACC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286000"/>
            <a:ext cx="2514600" cy="320040"/>
          </a:xfrm>
          <a:prstGeom prst="rect">
            <a:avLst/>
          </a:prstGeom>
          <a:solidFill>
            <a:srgbClr val="008ACC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Year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Paying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974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2,430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974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12,000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69748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45,000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ARPU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0896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$38/mo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0896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$42/mo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10896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$47/mo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ARR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2044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$1.1M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52044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$6M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52044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$25M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Gross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93192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93192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78%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93192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82%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4340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Headcount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34340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34340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34340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CCCC"/>
                </a:solidFill>
              </a:rPr>
              <a:t>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Use of $500K Pre-Seed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560320"/>
            <a:ext cx="5029200" cy="182880"/>
          </a:xfrm>
          <a:prstGeom prst="rect">
            <a:avLst/>
          </a:prstGeom>
          <a:solidFill>
            <a:srgbClr val="2A3A4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2560320"/>
            <a:ext cx="2514600" cy="18288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Engineering (2 hires) — $250,000 (50%)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063239"/>
            <a:ext cx="5029200" cy="182880"/>
          </a:xfrm>
          <a:prstGeom prst="rect">
            <a:avLst/>
          </a:prstGeom>
          <a:solidFill>
            <a:srgbClr val="2A3A4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3063239"/>
            <a:ext cx="1257300" cy="18288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Marketing &amp; Growth — $125,000 (25%)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566160"/>
            <a:ext cx="5029200" cy="182880"/>
          </a:xfrm>
          <a:prstGeom prst="rect">
            <a:avLst/>
          </a:prstGeom>
          <a:solidFill>
            <a:srgbClr val="2A3A4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3566160"/>
            <a:ext cx="502920" cy="18288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Infrastructure — $50,000 (10%)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4069080"/>
            <a:ext cx="5029200" cy="182880"/>
          </a:xfrm>
          <a:prstGeom prst="rect">
            <a:avLst/>
          </a:prstGeom>
          <a:solidFill>
            <a:srgbClr val="2A3A4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4069080"/>
            <a:ext cx="251460" cy="18288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Legal &amp; Compliance — $25,000 (5%)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4572000"/>
            <a:ext cx="5029200" cy="182880"/>
          </a:xfrm>
          <a:prstGeom prst="rect">
            <a:avLst/>
          </a:prstGeom>
          <a:solidFill>
            <a:srgbClr val="2A3A4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4572000"/>
            <a:ext cx="502920" cy="18288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Contingency — $50,000 (10%)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7A"/>
                </a:solidFill>
              </a:rPr>
              <a:t>Runway: 18 months  →  Cash-flow positive at Month 12  →  Series A at $1M ARR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Founder-Led. Operator Mindset. Builder First.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5448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828800"/>
            <a:ext cx="5303520" cy="3657600"/>
          </a:xfrm>
          <a:prstGeom prst="rect">
            <a:avLst/>
          </a:prstGeom>
          <a:solidFill>
            <a:srgbClr val="1A2A3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</a:rPr>
              <a:t>👨‍💼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Richard Shamdasani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Founder &amp; CEO  |  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🔨 Builder: Ships code. Built MVP solo in 2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10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🧠 Domain: Deep OpenClaw + Anthropic expertise.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039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🌏 Market: Based in SEA — highest WhatsApp adoption.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970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⚡ Speed: Operator mindset. No bureaucracy.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902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🎯 Conviction: Full-time commitment to this vision.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Key Hires (with funding)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286000"/>
            <a:ext cx="5303520" cy="566928"/>
          </a:xfrm>
          <a:prstGeom prst="rect">
            <a:avLst/>
          </a:prstGeom>
          <a:solidFill>
            <a:srgbClr val="1A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13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Full-Stack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313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Y1 Q1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786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React/Node.js, agent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944368"/>
            <a:ext cx="5303520" cy="566928"/>
          </a:xfrm>
          <a:prstGeom prst="rect">
            <a:avLst/>
          </a:prstGeom>
          <a:solidFill>
            <a:srgbClr val="1A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9717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AI/ML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97179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Y1 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36975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Agent framework specialist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602736"/>
            <a:ext cx="5303520" cy="566928"/>
          </a:xfrm>
          <a:prstGeom prst="rect">
            <a:avLst/>
          </a:prstGeom>
          <a:solidFill>
            <a:srgbClr val="1A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630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Growth 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630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Y1 Q2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9534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Consumer SaaS, PLG experience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261104"/>
            <a:ext cx="5303520" cy="566928"/>
          </a:xfrm>
          <a:prstGeom prst="rect">
            <a:avLst/>
          </a:prstGeom>
          <a:solidFill>
            <a:srgbClr val="1A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288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2885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Y1 Q3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537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Customer success, support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19472"/>
            <a:ext cx="5303520" cy="566928"/>
          </a:xfrm>
          <a:prstGeom prst="rect">
            <a:avLst/>
          </a:prstGeom>
          <a:solidFill>
            <a:srgbClr val="1A2A3A"/>
          </a:solidFill>
          <a:ln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946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Enterprise Sales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946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Y2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2120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B2B expansion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Raising $500,000 Pre-Seed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5448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Deal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Raise Amount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86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$500,000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Round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7614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Pre-Seed SAFE / Convertible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369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Valuation 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3697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$3,000,000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1246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Discount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1246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879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Pro-rata Rights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879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Yes (for $100K+ checks)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What $500K Delivers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331720"/>
            <a:ext cx="411480" cy="411480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Month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Public launch → $1K MRR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990087"/>
            <a:ext cx="411480" cy="411480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9443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Month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443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100 users → $3K MRR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648456"/>
            <a:ext cx="411480" cy="411480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6027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Month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027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Enterprise tier → $30K MRR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306824"/>
            <a:ext cx="411480" cy="411480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42611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Month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6110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Agent marketplace → $50K MRR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965192"/>
            <a:ext cx="411480" cy="411480"/>
          </a:xfrm>
          <a:prstGeom prst="ellipse">
            <a:avLst/>
          </a:prstGeom>
          <a:solidFill>
            <a:srgbClr val="00E57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919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Month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919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7A"/>
                </a:solidFill>
              </a:rPr>
              <a:t>🎯 $1M ARR — Series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D700"/>
                </a:solidFill>
              </a:rPr>
              <a:t>"The AI assistant market is massive, consumer demand is proven, and the managed personal AI agent position is completely unoccupied — we're going to own it."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914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PERSONAL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D4FF"/>
                </a:solidFill>
              </a:rPr>
              <a:t>"Your AI employee. Always on. 60-second setup."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338328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Richard Shamdasani  |  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📧 richard@personal-ai.com  |  🌐 personal-ai.com  |  📍 Singapore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846320"/>
            <a:ext cx="11274552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Confidential — For Investor Use Only  |  © 2026 Personal AI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